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03D6F"/>
                </a:solidFill>
              </a:defRPr>
            </a:pPr>
            <a:r>
              <a:t>NOMARGUERRIE</a:t>
            </a:r>
          </a:p>
          <a:p>
            <a:pPr algn="ctr">
              <a:defRPr sz="2400">
                <a:solidFill>
                  <a:srgbClr val="23282D"/>
                </a:solidFill>
              </a:defRPr>
            </a:pPr>
            <a:r>
              <a:t>Storyboard fonctionnel du logiciel de 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063240"/>
            <a:ext cx="3749039" cy="123444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3227832"/>
            <a:ext cx="3291839" cy="941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D69BE"/>
                </a:solidFill>
                <a:latin typeface="Aptos Display"/>
              </a:defRPr>
            </a:pPr>
            <a:r>
              <a:t>MORGUE</a:t>
            </a:r>
          </a:p>
          <a:p>
            <a:pPr>
              <a:spcBef>
                <a:spcPts val="500"/>
              </a:spcBef>
              <a:defRPr sz="1500">
                <a:solidFill>
                  <a:srgbClr val="23282D"/>
                </a:solidFill>
                <a:latin typeface="Aptos"/>
              </a:defRPr>
            </a:pPr>
            <a:r>
              <a:t>• De l’admission du corps à sa sortie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63240"/>
            <a:ext cx="3749039" cy="123444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227832"/>
            <a:ext cx="3291839" cy="941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146F43"/>
                </a:solidFill>
                <a:latin typeface="Aptos Display"/>
              </a:defRPr>
            </a:pPr>
            <a:r>
              <a:t>FUNÉRAIRE</a:t>
            </a:r>
          </a:p>
          <a:p>
            <a:pPr>
              <a:spcBef>
                <a:spcPts val="500"/>
              </a:spcBef>
              <a:defRPr sz="1500">
                <a:solidFill>
                  <a:srgbClr val="23282D"/>
                </a:solidFill>
                <a:latin typeface="Aptos"/>
              </a:defRPr>
            </a:pPr>
            <a:r>
              <a:t>• De la demande de prestations à la clôture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834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B83737"/>
                </a:solidFill>
              </a:defRPr>
            </a:pPr>
            <a:r>
              <a:t>Un dossier unique relie les deux parcours.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Vue d’ensemble du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Le logiciel sépare l’expérience Morgue et Funéraire, tout en partageant le même dossier.</a:t>
            </a:r>
          </a:p>
        </p:txBody>
      </p:sp>
      <p:pic>
        <p:nvPicPr>
          <p:cNvPr id="5" name="Picture 4" descr="a_clean_infographic_flowchart_diagram_on_a_whit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230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1. Connexion et 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L’utilisateur accède aux fonctions correspondant à son rôle.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2834640" cy="15361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CF9B20"/>
                </a:solidFill>
                <a:latin typeface="Aptos Display"/>
              </a:defRPr>
            </a:pPr>
            <a:r>
              <a:t>CONNEXION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E-mail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Mot de passe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Droits selon le rôle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2834640" cy="182880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27632"/>
            <a:ext cx="2377440" cy="15361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D69BE"/>
                </a:solidFill>
                <a:latin typeface="Aptos Display"/>
              </a:defRPr>
            </a:pPr>
            <a:r>
              <a:t>MORGUE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Gestion des corps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Admissions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Chambres et sorties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566160" cy="182880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27632"/>
            <a:ext cx="3108960" cy="15361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46F43"/>
                </a:solidFill>
                <a:latin typeface="Aptos Display"/>
              </a:defRPr>
            </a:pPr>
            <a:r>
              <a:t>FUNÉRAIRE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Prestations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Réservations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Organisation des funérailles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977639"/>
            <a:ext cx="8138160" cy="123444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B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142231"/>
            <a:ext cx="7680960" cy="9418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B83737"/>
                </a:solidFill>
                <a:latin typeface="Aptos Display"/>
              </a:defRPr>
            </a:pPr>
            <a:r>
              <a:t>Principe</a:t>
            </a:r>
          </a:p>
          <a:p>
            <a:pPr>
              <a:spcBef>
                <a:spcPts val="500"/>
              </a:spcBef>
              <a:defRPr sz="1500">
                <a:solidFill>
                  <a:srgbClr val="23282D"/>
                </a:solidFill>
                <a:latin typeface="Aptos"/>
              </a:defRPr>
            </a:pPr>
            <a:r>
              <a:t>• L’accueil oriente l’agent sans créer deux bases séparées : les informations restent centralisées.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2. Parcours Morgue — Admission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Les six premières étapes créent le dossier du défunt et son emplacement.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53312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0817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1325880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389888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Nouvelle admission</a:t>
            </a:r>
            <a:r>
              <a:rPr b="0" sz="1200">
                <a:solidFill>
                  <a:srgbClr val="23282D"/>
                </a:solidFill>
              </a:rPr>
              <a:t> — Identité du défunt, statut identifié/provisoire/non identifié, décès.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57984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2075688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139696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Informations d’arrivée</a:t>
            </a:r>
            <a:r>
              <a:rPr b="0" sz="1200">
                <a:solidFill>
                  <a:srgbClr val="23282D"/>
                </a:solidFill>
              </a:rPr>
              <a:t> — Date/heure, provenance, transport, état du corps, observations.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852927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07791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53312" y="2825496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2889503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Famille / ayants droit</a:t>
            </a:r>
            <a:r>
              <a:rPr b="0" sz="1200">
                <a:solidFill>
                  <a:srgbClr val="23282D"/>
                </a:solidFill>
              </a:rPr>
              <a:t> — Contact, déclarant, téléphone, pièce d’identité, responsabilités.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02736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3312" y="3575304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3639312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Documents</a:t>
            </a:r>
            <a:r>
              <a:rPr b="0" sz="1200">
                <a:solidFill>
                  <a:srgbClr val="23282D"/>
                </a:solidFill>
              </a:rPr>
              <a:t> — Certificat de décès, identités, autorisations et autres pièces.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352544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07407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3312" y="4325112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4389120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Chambre &amp; emplacement</a:t>
            </a:r>
            <a:r>
              <a:rPr b="0" sz="1200">
                <a:solidFill>
                  <a:srgbClr val="23282D"/>
                </a:solidFill>
              </a:rPr>
              <a:t> — Sélection d’une chambre froide et d’un casier disponible.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102352"/>
            <a:ext cx="411480" cy="411480"/>
          </a:xfrm>
          <a:prstGeom prst="ellipse">
            <a:avLst/>
          </a:prstGeom>
          <a:solidFill>
            <a:srgbClr val="1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5721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53312" y="5074920"/>
            <a:ext cx="10076688" cy="50292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" y="5138928"/>
            <a:ext cx="9738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D69BE"/>
                </a:solidFill>
              </a:defRPr>
            </a:pPr>
            <a:r>
              <a:t>Confirmation</a:t>
            </a:r>
            <a:r>
              <a:rPr b="0" sz="1200">
                <a:solidFill>
                  <a:srgbClr val="23282D"/>
                </a:solidFill>
              </a:rPr>
              <a:t> — Création du numéro NG-2026-XXXX et affectation du casier.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3. Parcours Morgue — Séjour et sortie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Après l’admission, toutes les opérations sont enregistrées dans le même dossier.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361188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017520" cy="33192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D69BE"/>
                </a:solidFill>
                <a:latin typeface="Aptos Display"/>
              </a:defRPr>
            </a:pPr>
            <a:r>
              <a:t>GESTION DU SÉJOUR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Conservation et préparation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Embaumement / mise en bière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Déplacements de casier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Médico-légal / autopsie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Historique des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361188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490472"/>
            <a:ext cx="2926080" cy="33192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CF9B20"/>
                </a:solidFill>
                <a:latin typeface="Aptos Display"/>
              </a:defRPr>
            </a:pPr>
            <a:r>
              <a:t>PRÉPARER LA SORTIE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Vérifier identité et documents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Vérifier la personne autorisée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Contrôle médico-légal si nécessaire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Vérifier la situation financière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325880"/>
            <a:ext cx="3474720" cy="361188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B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90472"/>
            <a:ext cx="3017520" cy="33192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B83737"/>
                </a:solidFill>
                <a:latin typeface="Aptos Display"/>
              </a:defRPr>
            </a:pPr>
            <a:r>
              <a:t>SORTIE DU CORPS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Date et heure de sortie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Personne qui reçoit le corps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Destination / cimetière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Casier automatiquement libéré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Dossier passe au statut SORTI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4. Parcours Funéraire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Le service funéraire retrouve le défunt existant ou crée les informations nécessaires.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97864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5272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6152" y="1170432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234440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Nouvelle demande</a:t>
            </a:r>
            <a:r>
              <a:rPr b="0" sz="1200">
                <a:solidFill>
                  <a:srgbClr val="23282D"/>
                </a:solidFill>
              </a:rPr>
              <a:t> — Rechercher le n° de dossier si le défunt est déjà enregistré.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755648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" y="1728216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792224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Famille / contact</a:t>
            </a:r>
            <a:r>
              <a:rPr b="0" sz="1200">
                <a:solidFill>
                  <a:srgbClr val="23282D"/>
                </a:solidFill>
              </a:rPr>
              <a:t> — Identifier le contact et le responsable de la demande.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313432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682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6152" y="2286000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2350008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Prestations</a:t>
            </a:r>
            <a:r>
              <a:rPr b="0" sz="1200">
                <a:solidFill>
                  <a:srgbClr val="23282D"/>
                </a:solidFill>
              </a:rPr>
              <a:t> — Cercueil, corbillard, transport, décoration, salle, chapiteau, etc.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871216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260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6152" y="2843784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9032" y="2907792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Réservations</a:t>
            </a:r>
            <a:r>
              <a:rPr b="0" sz="1200">
                <a:solidFill>
                  <a:srgbClr val="23282D"/>
                </a:solidFill>
              </a:rPr>
              <a:t> — Date/heure, ressources et contrôle des disponibilités.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428999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83863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6152" y="3401568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9032" y="3465575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Devis / facture</a:t>
            </a:r>
            <a:r>
              <a:rPr b="0" sz="1200">
                <a:solidFill>
                  <a:srgbClr val="23282D"/>
                </a:solidFill>
              </a:rPr>
              <a:t> — Prestations, prix, quantités, total USD/CDF, réduction éventuelle.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3986784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416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6152" y="3959352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99032" y="4023360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Paiement</a:t>
            </a:r>
            <a:r>
              <a:rPr b="0" sz="1200">
                <a:solidFill>
                  <a:srgbClr val="23282D"/>
                </a:solidFill>
              </a:rPr>
              <a:t> — Espèces, Mobile Money, virement… paiement total ou partiel et reçu.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544568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9943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16152" y="4517136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99032" y="4581144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Préparation</a:t>
            </a:r>
            <a:r>
              <a:rPr b="0" sz="1200">
                <a:solidFill>
                  <a:srgbClr val="23282D"/>
                </a:solidFill>
              </a:rPr>
              <a:t> — Responsables, horaires, ressources et état d’avancement.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5102352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5721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16152" y="5074920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99032" y="5138928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Jour des funérailles</a:t>
            </a:r>
            <a:r>
              <a:rPr b="0" sz="1200">
                <a:solidFill>
                  <a:srgbClr val="23282D"/>
                </a:solidFill>
              </a:rPr>
              <a:t> — Confirmer les prestations et gérer les ressources.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5660136"/>
            <a:ext cx="411480" cy="411480"/>
          </a:xfrm>
          <a:prstGeom prst="ellipse">
            <a:avLst/>
          </a:prstGeom>
          <a:solidFill>
            <a:srgbClr val="14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6152" y="5632704"/>
            <a:ext cx="10259568" cy="50292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99032" y="5696712"/>
            <a:ext cx="99212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6F43"/>
                </a:solidFill>
              </a:defRPr>
            </a:pPr>
            <a:r>
              <a:t>Clôture</a:t>
            </a:r>
            <a:r>
              <a:rPr b="0" sz="1200">
                <a:solidFill>
                  <a:srgbClr val="23282D"/>
                </a:solidFill>
              </a:rPr>
              <a:t> — Prestations réalisées, paiements finalisés et dossier clôturé.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5. Le dossier unique du défunt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Le numéro NG-2026-XXXX devient le point de référence de toutes les opérations.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234440"/>
            <a:ext cx="4434840" cy="443484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B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399032"/>
            <a:ext cx="3977639" cy="4142231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200" b="1">
                <a:solidFill>
                  <a:srgbClr val="B83737"/>
                </a:solidFill>
                <a:latin typeface="Aptos Display"/>
              </a:defRPr>
            </a:pPr>
            <a:r>
              <a:t>DOSSIER NG-2026-XXXX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Identité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Famille / ayants droit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Documents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Emplacement actuel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Opérations de morgue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Médico-légal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Services funéraires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Réservations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Facturation / paiements</a:t>
            </a:r>
          </a:p>
          <a:p>
            <a:pPr>
              <a:spcBef>
                <a:spcPts val="500"/>
              </a:spcBef>
              <a:defRPr sz="1400">
                <a:solidFill>
                  <a:srgbClr val="23282D"/>
                </a:solidFill>
                <a:latin typeface="Aptos"/>
              </a:defRPr>
            </a:pPr>
            <a:r>
              <a:t>• Historique complet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43200" cy="192024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286000" cy="16276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D69BE"/>
                </a:solidFill>
                <a:latin typeface="Aptos Display"/>
              </a:defRPr>
            </a:pPr>
            <a:r>
              <a:t>MORGUE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Alimente le dossier avec les informations opérationnelles.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74519"/>
            <a:ext cx="2743200" cy="192024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2039112"/>
            <a:ext cx="2286000" cy="162763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46F43"/>
                </a:solidFill>
                <a:latin typeface="Aptos Display"/>
              </a:defRPr>
            </a:pPr>
            <a:r>
              <a:t>FUNÉRAIRE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Utilise le même dossier pour les prestations et réservations.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6. Facturation &amp; caisse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Les prestations choisies alimentent la facture et les paiements sont suivis jusqu’au solde.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91840" cy="34747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2834640" cy="31821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CF9B20"/>
                </a:solidFill>
                <a:latin typeface="Aptos Display"/>
              </a:defRPr>
            </a:pPr>
            <a:r>
              <a:t>FACTURE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N° facture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Lignes de prestations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Prix et quantités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Total par devise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Solde restant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347472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81912"/>
            <a:ext cx="2834640" cy="31821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46F43"/>
                </a:solidFill>
                <a:latin typeface="Aptos Display"/>
              </a:defRPr>
            </a:pPr>
            <a:r>
              <a:t>PAIEMENT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Paiement total ou partiel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USD ou CDF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Mode de paiement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Payeur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Génération d’un reçu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291840" cy="347472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581912"/>
            <a:ext cx="2834640" cy="31821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D69BE"/>
                </a:solidFill>
                <a:latin typeface="Aptos Display"/>
              </a:defRPr>
            </a:pPr>
            <a:r>
              <a:t>SUIVI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Encaissements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Soldes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Historique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Contrôle par la caisse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Traçabilité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2578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83737"/>
                </a:solidFill>
              </a:defRPr>
            </a:pPr>
            <a:r>
              <a:t>USD et CDF sont suivis séparément : aucune conversion automatique sans taux défini.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7. Rapports &amp; 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La direction dispose d’une vue synthétique de l’activité.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3566160"/>
          </a:xfrm>
          <a:prstGeom prst="roundRect">
            <a:avLst/>
          </a:prstGeom>
          <a:solidFill>
            <a:srgbClr val="EAF4FF"/>
          </a:solidFill>
          <a:ln w="15240"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926080" cy="32735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D69BE"/>
                </a:solidFill>
                <a:latin typeface="Aptos Display"/>
              </a:defRPr>
            </a:pPr>
            <a:r>
              <a:t>MORGUE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Défunts présents / sortis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Places disponibles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Taux d’occupation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Durée de séjour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Sorties prévues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EBF8EF"/>
          </a:solidFill>
          <a:ln w="15240"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81912"/>
            <a:ext cx="2926080" cy="32735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146F43"/>
                </a:solidFill>
                <a:latin typeface="Aptos Display"/>
              </a:defRPr>
            </a:pPr>
            <a:r>
              <a:t>FUNÉRAIRE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Prestations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Réservations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Ressources disponibles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Dossiers à préparer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Funérailles du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356616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81912"/>
            <a:ext cx="2926080" cy="32735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800" b="1">
                <a:solidFill>
                  <a:srgbClr val="CF9B20"/>
                </a:solidFill>
                <a:latin typeface="Aptos Display"/>
              </a:defRPr>
            </a:pPr>
            <a:r>
              <a:t>FINANCE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Factures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Paiements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Soldes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Recettes</a:t>
            </a:r>
          </a:p>
          <a:p>
            <a:pPr>
              <a:spcBef>
                <a:spcPts val="500"/>
              </a:spcBef>
              <a:defRPr sz="1300">
                <a:solidFill>
                  <a:srgbClr val="23282D"/>
                </a:solidFill>
                <a:latin typeface="Aptos"/>
              </a:defRPr>
            </a:pPr>
            <a:r>
              <a:t>• Alertes et statistiques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D6F"/>
                </a:solidFill>
                <a:latin typeface="Aptos Display"/>
              </a:defRPr>
            </a:pPr>
            <a:r>
              <a:t>8. Résumé du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4"/>
                </a:solidFill>
                <a:latin typeface="Aptos"/>
              </a:defRPr>
            </a:pPr>
            <a:r>
              <a:t>Un parcours simple pour l’agent, une traçabilité complète pour NomarGuerrie.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1508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31720"/>
            <a:ext cx="13624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D69BE"/>
                </a:solidFill>
              </a:defRPr>
            </a:pPr>
            <a:r>
              <a:t>1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Connexion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9424" y="2194560"/>
            <a:ext cx="1508760" cy="1143000"/>
          </a:xfrm>
          <a:prstGeom prst="roundRect">
            <a:avLst/>
          </a:prstGeom>
          <a:solidFill>
            <a:srgbClr val="FFF8E1"/>
          </a:solidFill>
          <a:ln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22576" y="2331720"/>
            <a:ext cx="13624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9B20"/>
                </a:solidFill>
              </a:defRPr>
            </a:pPr>
            <a:r>
              <a:t>2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Choix Morgue / Funéraire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4487" y="2194560"/>
            <a:ext cx="1965960" cy="1143000"/>
          </a:xfrm>
          <a:prstGeom prst="roundRect">
            <a:avLst/>
          </a:prstGeom>
          <a:solidFill>
            <a:srgbClr val="FFEFEF"/>
          </a:solidFill>
          <a:ln>
            <a:solidFill>
              <a:srgbClr val="B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331720"/>
            <a:ext cx="18196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3737"/>
                </a:solidFill>
              </a:defRPr>
            </a:pPr>
            <a:r>
              <a:t>3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Création ou recherche du dossier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2194560"/>
            <a:ext cx="1965960" cy="1143000"/>
          </a:xfrm>
          <a:prstGeom prst="roundRect">
            <a:avLst/>
          </a:prstGeom>
          <a:solidFill>
            <a:srgbClr val="EBF8EF"/>
          </a:solidFill>
          <a:ln>
            <a:solidFill>
              <a:srgbClr val="14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2331720"/>
            <a:ext cx="18196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6F43"/>
                </a:solidFill>
              </a:defRPr>
            </a:pPr>
            <a:r>
              <a:t>4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Gestion des opérations / prestations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2194560"/>
            <a:ext cx="1508760" cy="1143000"/>
          </a:xfrm>
          <a:prstGeom prst="roundRect">
            <a:avLst/>
          </a:prstGeom>
          <a:solidFill>
            <a:srgbClr val="FFF8E1"/>
          </a:solidFill>
          <a:ln>
            <a:solidFill>
              <a:srgbClr val="CF9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331720"/>
            <a:ext cx="13624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F9B20"/>
                </a:solidFill>
              </a:defRPr>
            </a:pPr>
            <a:r>
              <a:t>5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Facturation &amp; paiement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194560"/>
            <a:ext cx="1508760" cy="1143000"/>
          </a:xfrm>
          <a:prstGeom prst="roundRect">
            <a:avLst/>
          </a:prstGeom>
          <a:solidFill>
            <a:srgbClr val="FFEFEF"/>
          </a:solidFill>
          <a:ln>
            <a:solidFill>
              <a:srgbClr val="B8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7232" y="2331720"/>
            <a:ext cx="13624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3737"/>
                </a:solidFill>
              </a:defRPr>
            </a:pPr>
            <a:r>
              <a:t>6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Sortie ou clôture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9144" y="2194560"/>
            <a:ext cx="1508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1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12296" y="2331720"/>
            <a:ext cx="136245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D69BE"/>
                </a:solidFill>
              </a:defRPr>
            </a:pPr>
            <a:r>
              <a:t>7</a:t>
            </a:r>
          </a:p>
          <a:p>
            <a:pPr algn="ctr">
              <a:defRPr sz="1100" b="1">
                <a:solidFill>
                  <a:srgbClr val="23282D"/>
                </a:solidFill>
              </a:defRPr>
            </a:pPr>
            <a:r>
              <a:t>Historique &amp; rapports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3D6F"/>
                </a:solidFill>
              </a:defRPr>
            </a:pPr>
            <a:r>
              <a:t>Objectif : éviter la double saisie, sécuriser le suivi du défunt et centraliser l’ensemble des opérations dans un seul système.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